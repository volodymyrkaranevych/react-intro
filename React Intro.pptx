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  <p:sldMasterId id="2147483656" r:id="rId5"/>
  </p:sldMasterIdLst>
  <p:notesMasterIdLst>
    <p:notesMasterId r:id="rId36"/>
  </p:notesMasterIdLst>
  <p:sldIdLst>
    <p:sldId id="257" r:id="rId6"/>
    <p:sldId id="294" r:id="rId7"/>
    <p:sldId id="259" r:id="rId8"/>
    <p:sldId id="275" r:id="rId9"/>
    <p:sldId id="295" r:id="rId10"/>
    <p:sldId id="297" r:id="rId11"/>
    <p:sldId id="299" r:id="rId12"/>
    <p:sldId id="319" r:id="rId13"/>
    <p:sldId id="296" r:id="rId14"/>
    <p:sldId id="300" r:id="rId15"/>
    <p:sldId id="302" r:id="rId16"/>
    <p:sldId id="304" r:id="rId17"/>
    <p:sldId id="320" r:id="rId18"/>
    <p:sldId id="318" r:id="rId19"/>
    <p:sldId id="317" r:id="rId20"/>
    <p:sldId id="316" r:id="rId21"/>
    <p:sldId id="301" r:id="rId22"/>
    <p:sldId id="303" r:id="rId23"/>
    <p:sldId id="305" r:id="rId24"/>
    <p:sldId id="306" r:id="rId25"/>
    <p:sldId id="307" r:id="rId26"/>
    <p:sldId id="308" r:id="rId27"/>
    <p:sldId id="311" r:id="rId28"/>
    <p:sldId id="310" r:id="rId29"/>
    <p:sldId id="309" r:id="rId30"/>
    <p:sldId id="313" r:id="rId31"/>
    <p:sldId id="312" r:id="rId32"/>
    <p:sldId id="314" r:id="rId33"/>
    <p:sldId id="271" r:id="rId34"/>
    <p:sldId id="273" r:id="rId35"/>
  </p:sldIdLst>
  <p:sldSz cx="12192000" cy="6858000"/>
  <p:notesSz cx="6858000" cy="9144000"/>
  <p:embeddedFontLs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Open Sans" panose="020B0604020202020204" charset="0"/>
      <p:regular r:id="rId41"/>
      <p:bold r:id="rId42"/>
      <p:italic r:id="rId43"/>
      <p:boldItalic r:id="rId44"/>
    </p:embeddedFont>
    <p:embeddedFont>
      <p:font typeface="Proxima Nova Black" panose="020B0604020202020204" charset="0"/>
      <p:bold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6950" autoAdjust="0"/>
  </p:normalViewPr>
  <p:slideViewPr>
    <p:cSldViewPr snapToGrid="0">
      <p:cViewPr varScale="1">
        <p:scale>
          <a:sx n="85" d="100"/>
          <a:sy n="85" d="100"/>
        </p:scale>
        <p:origin x="180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6.fntdata"/><Relationship Id="rId47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font" Target="fonts/font2.fntdata"/><Relationship Id="rId46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font" Target="fonts/font7.fntdata"/><Relationship Id="rId48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5FD91-C53C-46EF-ADC2-725B60F54171}" type="datetimeFigureOut">
              <a:rPr lang="uk-UA" smtClean="0"/>
              <a:t>14.04.2019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8784F-2C8E-46F8-B6D9-7F8C8388057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7089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65916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25194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79986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1280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77393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8032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8593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53956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61709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51828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25555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21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60369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22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66517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23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246809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24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018237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25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676918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26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7194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27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294745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8784F-2C8E-46F8-B6D9-7F8C83880578}" type="slidenum">
              <a:rPr lang="uk-UA" smtClean="0"/>
              <a:t>28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98357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DARK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668307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1000"/>
              </a:lnSpc>
              <a:defRPr sz="1500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</a:t>
            </a:r>
            <a:br>
              <a:rPr lang="uk-UA" dirty="0"/>
            </a:br>
            <a:r>
              <a:rPr lang="en-US" dirty="0"/>
              <a:t>TO</a:t>
            </a:r>
            <a:r>
              <a:rPr lang="uk-UA" dirty="0"/>
              <a:t> </a:t>
            </a:r>
            <a:r>
              <a:rPr lang="en-US" dirty="0"/>
              <a:t>BE</a:t>
            </a:r>
            <a:r>
              <a:rPr lang="uk-UA" dirty="0"/>
              <a:t> </a:t>
            </a:r>
            <a:r>
              <a:rPr lang="en-US" dirty="0"/>
              <a:t>CAPI</a:t>
            </a:r>
            <a:br>
              <a:rPr lang="uk-UA" dirty="0"/>
            </a:br>
            <a:r>
              <a:rPr lang="en-US" dirty="0"/>
              <a:t>TALIZED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by Speaker</a:t>
            </a:r>
          </a:p>
        </p:txBody>
      </p:sp>
    </p:spTree>
    <p:extLst>
      <p:ext uri="{BB962C8B-B14F-4D97-AF65-F5344CB8AC3E}">
        <p14:creationId xmlns:p14="http://schemas.microsoft.com/office/powerpoint/2010/main" val="57075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DAR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by Speaker</a:t>
            </a:r>
          </a:p>
        </p:txBody>
      </p:sp>
    </p:spTree>
    <p:extLst>
      <p:ext uri="{BB962C8B-B14F-4D97-AF65-F5344CB8AC3E}">
        <p14:creationId xmlns:p14="http://schemas.microsoft.com/office/powerpoint/2010/main" val="96648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E-COLUMN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5463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WO-COLUMNS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77726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HREE-COLUMNS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6044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ESCRIPTION-SIDETEX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07881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IDETEXT-PROCESS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77043"/>
            <a:ext cx="7124700" cy="2051957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77043"/>
            <a:ext cx="3467100" cy="2051957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917664" y="3638007"/>
            <a:ext cx="1598024" cy="1598024"/>
          </a:xfrm>
          <a:prstGeom prst="ellipse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 userDrawn="1"/>
        </p:nvSpPr>
        <p:spPr>
          <a:xfrm>
            <a:off x="3113586" y="3638007"/>
            <a:ext cx="1598024" cy="1598024"/>
          </a:xfrm>
          <a:prstGeom prst="ellipse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 userDrawn="1"/>
        </p:nvSpPr>
        <p:spPr>
          <a:xfrm>
            <a:off x="5309508" y="3638007"/>
            <a:ext cx="1598024" cy="1598024"/>
          </a:xfrm>
          <a:prstGeom prst="ellipse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 userDrawn="1"/>
        </p:nvSpPr>
        <p:spPr>
          <a:xfrm>
            <a:off x="7505429" y="3638007"/>
            <a:ext cx="1598024" cy="1598024"/>
          </a:xfrm>
          <a:prstGeom prst="ellipse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 userDrawn="1"/>
        </p:nvSpPr>
        <p:spPr>
          <a:xfrm>
            <a:off x="9701348" y="3638007"/>
            <a:ext cx="1598024" cy="1598024"/>
          </a:xfrm>
          <a:prstGeom prst="ellipse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 userDrawn="1"/>
        </p:nvCxnSpPr>
        <p:spPr>
          <a:xfrm>
            <a:off x="2700337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 userDrawn="1"/>
        </p:nvCxnSpPr>
        <p:spPr>
          <a:xfrm>
            <a:off x="4896259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 userDrawn="1"/>
        </p:nvCxnSpPr>
        <p:spPr>
          <a:xfrm>
            <a:off x="7092181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 userDrawn="1"/>
        </p:nvCxnSpPr>
        <p:spPr>
          <a:xfrm>
            <a:off x="9288101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028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7481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33605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7639324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9825445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62363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IMELIN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-28575" y="2743200"/>
            <a:ext cx="12252960" cy="0"/>
          </a:xfrm>
          <a:prstGeom prst="line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 userDrawn="1"/>
        </p:nvSpPr>
        <p:spPr>
          <a:xfrm>
            <a:off x="617220" y="2674620"/>
            <a:ext cx="137160" cy="137160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 userDrawn="1"/>
        </p:nvSpPr>
        <p:spPr>
          <a:xfrm>
            <a:off x="2827020" y="2674620"/>
            <a:ext cx="137160" cy="137160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 userDrawn="1"/>
        </p:nvSpPr>
        <p:spPr>
          <a:xfrm>
            <a:off x="5036820" y="2674620"/>
            <a:ext cx="137160" cy="137160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 userDrawn="1"/>
        </p:nvSpPr>
        <p:spPr>
          <a:xfrm>
            <a:off x="7246620" y="2674620"/>
            <a:ext cx="137160" cy="137160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 userDrawn="1"/>
        </p:nvSpPr>
        <p:spPr>
          <a:xfrm>
            <a:off x="9456420" y="2674620"/>
            <a:ext cx="137160" cy="137160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28956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114925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73152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534525" y="207645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5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28956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511492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7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73152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51547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9" name="TextBox 3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986282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RIGH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2959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219825" y="2057400"/>
            <a:ext cx="5286375" cy="3429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33767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DE-PHOTO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CLICK TO EDIT THE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2057400"/>
            <a:ext cx="12192000" cy="4800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27396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LEF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2025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-PHOTO-RIGH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</a:t>
            </a:r>
            <a:r>
              <a:rPr lang="uk-UA" dirty="0"/>
              <a:t> С</a:t>
            </a:r>
            <a:r>
              <a:rPr lang="en-US" dirty="0"/>
              <a:t>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381500" y="1371600"/>
            <a:ext cx="71247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429000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3734514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-CHAR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685435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-LEF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429000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4381500" y="1371600"/>
            <a:ext cx="71247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4022539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LIGH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668307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1000"/>
              </a:lnSpc>
              <a:defRPr sz="1500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</a:t>
            </a:r>
            <a:br>
              <a:rPr lang="uk-UA" dirty="0"/>
            </a:br>
            <a:r>
              <a:rPr lang="en-US" dirty="0"/>
              <a:t>TO</a:t>
            </a:r>
            <a:r>
              <a:rPr lang="uk-UA" dirty="0"/>
              <a:t> </a:t>
            </a:r>
            <a:r>
              <a:rPr lang="en-US" dirty="0"/>
              <a:t>BE</a:t>
            </a:r>
            <a:r>
              <a:rPr lang="uk-UA" dirty="0"/>
              <a:t> </a:t>
            </a:r>
            <a:r>
              <a:rPr lang="en-US" dirty="0"/>
              <a:t>CAPI</a:t>
            </a:r>
            <a:br>
              <a:rPr lang="uk-UA" dirty="0"/>
            </a:br>
            <a:r>
              <a:rPr lang="en-US" dirty="0"/>
              <a:t>TALIZED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by Speaker</a:t>
            </a:r>
          </a:p>
        </p:txBody>
      </p:sp>
    </p:spTree>
    <p:extLst>
      <p:ext uri="{BB962C8B-B14F-4D97-AF65-F5344CB8AC3E}">
        <p14:creationId xmlns:p14="http://schemas.microsoft.com/office/powerpoint/2010/main" val="4242457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by Speaker</a:t>
            </a:r>
          </a:p>
        </p:txBody>
      </p:sp>
    </p:spTree>
    <p:extLst>
      <p:ext uri="{BB962C8B-B14F-4D97-AF65-F5344CB8AC3E}">
        <p14:creationId xmlns:p14="http://schemas.microsoft.com/office/powerpoint/2010/main" val="2667753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E-COLUMN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189386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WO-COLUMNS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701686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HREE-COLUMNS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41960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ESCRIPTION-SIDETEX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868973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IDETEXT-PROCESS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77043"/>
            <a:ext cx="7124700" cy="2051957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77043"/>
            <a:ext cx="3467100" cy="2051957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917664" y="3638007"/>
            <a:ext cx="1598024" cy="1598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 userDrawn="1"/>
        </p:nvSpPr>
        <p:spPr>
          <a:xfrm>
            <a:off x="3113586" y="3638007"/>
            <a:ext cx="1598024" cy="1598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 userDrawn="1"/>
        </p:nvSpPr>
        <p:spPr>
          <a:xfrm>
            <a:off x="5309508" y="3638007"/>
            <a:ext cx="1598024" cy="1598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 userDrawn="1"/>
        </p:nvSpPr>
        <p:spPr>
          <a:xfrm>
            <a:off x="7505429" y="3638007"/>
            <a:ext cx="1598024" cy="1598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 userDrawn="1"/>
        </p:nvSpPr>
        <p:spPr>
          <a:xfrm>
            <a:off x="9701348" y="3638007"/>
            <a:ext cx="1598024" cy="1598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 userDrawn="1"/>
        </p:nvCxnSpPr>
        <p:spPr>
          <a:xfrm>
            <a:off x="2700337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 userDrawn="1"/>
        </p:nvCxnSpPr>
        <p:spPr>
          <a:xfrm>
            <a:off x="4896259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 userDrawn="1"/>
        </p:nvCxnSpPr>
        <p:spPr>
          <a:xfrm>
            <a:off x="7092181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 userDrawn="1"/>
        </p:nvCxnSpPr>
        <p:spPr>
          <a:xfrm>
            <a:off x="9288101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028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7481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33605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7639324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9825445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7487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IMELINE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-28575" y="2743200"/>
            <a:ext cx="122529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 userDrawn="1"/>
        </p:nvSpPr>
        <p:spPr>
          <a:xfrm>
            <a:off x="6172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 userDrawn="1"/>
        </p:nvSpPr>
        <p:spPr>
          <a:xfrm>
            <a:off x="28270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 userDrawn="1"/>
        </p:nvSpPr>
        <p:spPr>
          <a:xfrm>
            <a:off x="50368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 userDrawn="1"/>
        </p:nvSpPr>
        <p:spPr>
          <a:xfrm>
            <a:off x="72466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 userDrawn="1"/>
        </p:nvSpPr>
        <p:spPr>
          <a:xfrm>
            <a:off x="94564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28956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114925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73152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534525" y="207645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5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28956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511492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7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73152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51547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</p:spTree>
    <p:extLst>
      <p:ext uri="{BB962C8B-B14F-4D97-AF65-F5344CB8AC3E}">
        <p14:creationId xmlns:p14="http://schemas.microsoft.com/office/powerpoint/2010/main" val="11286899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RIGH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2959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219825" y="2057400"/>
            <a:ext cx="5286375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842787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DE-PHOTO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CLICK TO EDIT THE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2057400"/>
            <a:ext cx="121920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855464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LEF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5590467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-PHOTO-RIGH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</a:t>
            </a:r>
            <a:r>
              <a:rPr lang="uk-UA" dirty="0"/>
              <a:t> С</a:t>
            </a:r>
            <a:r>
              <a:rPr lang="en-US" dirty="0"/>
              <a:t>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381500" y="1371600"/>
            <a:ext cx="71247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429000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1780709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-CHAR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921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-LEF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429000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4381500" y="1371600"/>
            <a:ext cx="71247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4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3.emf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38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52" r:id="rId3"/>
    <p:sldLayoutId id="2147483654" r:id="rId4"/>
    <p:sldLayoutId id="2147483657" r:id="rId5"/>
    <p:sldLayoutId id="2147483661" r:id="rId6"/>
    <p:sldLayoutId id="2147483663" r:id="rId7"/>
    <p:sldLayoutId id="2147483665" r:id="rId8"/>
    <p:sldLayoutId id="2147483667" r:id="rId9"/>
    <p:sldLayoutId id="2147483670" r:id="rId10"/>
    <p:sldLayoutId id="2147483669" r:id="rId11"/>
    <p:sldLayoutId id="2147483671" r:id="rId12"/>
    <p:sldLayoutId id="2147483672" r:id="rId13"/>
    <p:sldLayoutId id="214748367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32" userDrawn="1">
          <p15:clr>
            <a:srgbClr val="F26B43"/>
          </p15:clr>
        </p15:guide>
        <p15:guide id="4" pos="7248" userDrawn="1">
          <p15:clr>
            <a:srgbClr val="F26B43"/>
          </p15:clr>
        </p15:guide>
        <p15:guide id="5" orient="horz" pos="432" userDrawn="1">
          <p15:clr>
            <a:srgbClr val="F26B43"/>
          </p15:clr>
        </p15:guide>
        <p15:guide id="6" orient="horz" pos="864" userDrawn="1">
          <p15:clr>
            <a:srgbClr val="F26B43"/>
          </p15:clr>
        </p15:guide>
        <p15:guide id="7" orient="horz" pos="3456" userDrawn="1">
          <p15:clr>
            <a:srgbClr val="F26B43"/>
          </p15:clr>
        </p15:guide>
        <p15:guide id="8" orient="horz" pos="3888" userDrawn="1">
          <p15:clr>
            <a:srgbClr val="F26B43"/>
          </p15:clr>
        </p15:guide>
        <p15:guide id="9" pos="1680" userDrawn="1">
          <p15:clr>
            <a:srgbClr val="F26B43"/>
          </p15:clr>
        </p15:guide>
        <p15:guide id="10" pos="1824" userDrawn="1">
          <p15:clr>
            <a:srgbClr val="F26B43"/>
          </p15:clr>
        </p15:guide>
        <p15:guide id="11" pos="2616" userDrawn="1">
          <p15:clr>
            <a:srgbClr val="F26B43"/>
          </p15:clr>
        </p15:guide>
        <p15:guide id="12" pos="3072" userDrawn="1">
          <p15:clr>
            <a:srgbClr val="F26B43"/>
          </p15:clr>
        </p15:guide>
        <p15:guide id="13" pos="2760" userDrawn="1">
          <p15:clr>
            <a:srgbClr val="F26B43"/>
          </p15:clr>
        </p15:guide>
        <p15:guide id="14" pos="3216" userDrawn="1">
          <p15:clr>
            <a:srgbClr val="F26B43"/>
          </p15:clr>
        </p15:guide>
        <p15:guide id="15" pos="4464" userDrawn="1">
          <p15:clr>
            <a:srgbClr val="F26B43"/>
          </p15:clr>
        </p15:guide>
        <p15:guide id="16" pos="4608" userDrawn="1">
          <p15:clr>
            <a:srgbClr val="F26B43"/>
          </p15:clr>
        </p15:guide>
        <p15:guide id="17" pos="4920" userDrawn="1">
          <p15:clr>
            <a:srgbClr val="F26B43"/>
          </p15:clr>
        </p15:guide>
        <p15:guide id="18" pos="5064" userDrawn="1">
          <p15:clr>
            <a:srgbClr val="F26B43"/>
          </p15:clr>
        </p15:guide>
        <p15:guide id="19" pos="5856" userDrawn="1">
          <p15:clr>
            <a:srgbClr val="F26B43"/>
          </p15:clr>
        </p15:guide>
        <p15:guide id="20" pos="6000" userDrawn="1">
          <p15:clr>
            <a:srgbClr val="F26B43"/>
          </p15:clr>
        </p15:guide>
        <p15:guide id="21" orient="horz" pos="1296" userDrawn="1">
          <p15:clr>
            <a:srgbClr val="F26B43"/>
          </p15:clr>
        </p15:guide>
        <p15:guide id="22" orient="horz" pos="1728" userDrawn="1">
          <p15:clr>
            <a:srgbClr val="F26B43"/>
          </p15:clr>
        </p15:guide>
        <p15:guide id="23" pos="3768" userDrawn="1">
          <p15:clr>
            <a:srgbClr val="F26B43"/>
          </p15:clr>
        </p15:guide>
        <p15:guide id="24" pos="391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959145" y="5906728"/>
            <a:ext cx="1547053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7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64" r:id="rId7"/>
    <p:sldLayoutId id="2147483666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js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codepen.io/pen?editors=1010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pen?&amp;editable=true&amp;editors=0010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js.org/docs/components-and-props.html" TargetMode="External"/><Relationship Id="rId2" Type="http://schemas.openxmlformats.org/officeDocument/2006/relationships/hyperlink" Target="https://reactjs.org/docs/components-and-props.html#function-and-class-componentshttps://en.wikipedia.org/wiki/Pure_functio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eactpatterns.com/" TargetMode="External"/><Relationship Id="rId4" Type="http://schemas.openxmlformats.org/officeDocument/2006/relationships/hyperlink" Target="https://medium.com/tag/react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08308" y="174928"/>
            <a:ext cx="12390783" cy="6683071"/>
          </a:xfrm>
        </p:spPr>
        <p:txBody>
          <a:bodyPr/>
          <a:lstStyle/>
          <a:p>
            <a:r>
              <a:rPr lang="en-US" dirty="0">
                <a:latin typeface="Proxima Nova Black" panose="02000506030000020004" pitchFamily="2" charset="0"/>
              </a:rPr>
              <a:t>REACT INTRO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By Volodymyr Karanevych</a:t>
            </a:r>
          </a:p>
        </p:txBody>
      </p:sp>
    </p:spTree>
    <p:extLst>
      <p:ext uri="{BB962C8B-B14F-4D97-AF65-F5344CB8AC3E}">
        <p14:creationId xmlns:p14="http://schemas.microsoft.com/office/powerpoint/2010/main" val="1552756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820400" cy="1714502"/>
          </a:xfrm>
        </p:spPr>
        <p:txBody>
          <a:bodyPr/>
          <a:lstStyle/>
          <a:p>
            <a:r>
              <a:rPr lang="en-US" dirty="0"/>
              <a:t>AGENDA</a:t>
            </a:r>
            <a:endParaRPr lang="uk-U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2400301"/>
            <a:ext cx="4274820" cy="3810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React?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Function component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Destructuring</a:t>
            </a:r>
            <a:r>
              <a:rPr lang="en-US" dirty="0"/>
              <a:t> props</a:t>
            </a:r>
          </a:p>
        </p:txBody>
      </p:sp>
    </p:spTree>
    <p:extLst>
      <p:ext uri="{BB962C8B-B14F-4D97-AF65-F5344CB8AC3E}">
        <p14:creationId xmlns:p14="http://schemas.microsoft.com/office/powerpoint/2010/main" val="958342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9600" dirty="0"/>
              <a:t>WHAT IS REACT?</a:t>
            </a:r>
            <a:endParaRPr lang="uk-UA" sz="9600" dirty="0"/>
          </a:p>
        </p:txBody>
      </p:sp>
    </p:spTree>
    <p:extLst>
      <p:ext uri="{BB962C8B-B14F-4D97-AF65-F5344CB8AC3E}">
        <p14:creationId xmlns:p14="http://schemas.microsoft.com/office/powerpoint/2010/main" val="658380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React is a declarative, efficient, and flexible JavaScript library for building user interfaces. It lets you compose complex UIs from small and isolated pieces of code called “</a:t>
            </a:r>
            <a:r>
              <a:rPr lang="en-US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components</a:t>
            </a:r>
            <a:r>
              <a:rPr lang="en-US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”.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INTRODUCTION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3844949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React was created by Jordan </a:t>
            </a:r>
            <a:r>
              <a:rPr lang="en-US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Walke</a:t>
            </a:r>
            <a:r>
              <a:rPr lang="en-US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a software engineer at Facebook. It was first deployed on Facebook's newsfeed in 2011 and later on Instagram</a:t>
            </a:r>
            <a:r>
              <a:rPr lang="uk-UA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en-US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in 2012</a:t>
            </a:r>
            <a:r>
              <a:rPr lang="uk-UA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</a:t>
            </a:r>
          </a:p>
          <a:p>
            <a:r>
              <a:rPr lang="en-US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It was open-sourced at </a:t>
            </a:r>
            <a:r>
              <a:rPr lang="en-US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JSConf</a:t>
            </a:r>
            <a:r>
              <a:rPr lang="en-US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US in May 2013.</a:t>
            </a:r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HISTORY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3362652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Easy to read and </a:t>
            </a:r>
          </a:p>
          <a:p>
            <a:r>
              <a:rPr lang="en-US" dirty="0"/>
              <a:t>     understand views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Concept of components is </a:t>
            </a:r>
          </a:p>
          <a:p>
            <a:r>
              <a:rPr lang="en-US" dirty="0"/>
              <a:t>     the future of web </a:t>
            </a:r>
          </a:p>
          <a:p>
            <a:r>
              <a:rPr lang="en-US" dirty="0"/>
              <a:t>    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React is fast (because it </a:t>
            </a:r>
          </a:p>
          <a:p>
            <a:r>
              <a:rPr lang="en-US" dirty="0"/>
              <a:t>     only manipulates the DOM)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REACT PREFERENCES</a:t>
            </a:r>
            <a:endParaRPr lang="uk-UA" sz="4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94ED07-F561-4BD8-BC19-C73762207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222" y="1523999"/>
            <a:ext cx="70485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833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Create React App is a comfortable environment for learning React, and is the best way to start building a new single-page application in React.</a:t>
            </a:r>
          </a:p>
          <a:p>
            <a:endParaRPr lang="en-US" dirty="0"/>
          </a:p>
          <a:p>
            <a:r>
              <a:rPr lang="en-US" i="1" dirty="0"/>
              <a:t>You’ll need to have Node &gt;= 6 and </a:t>
            </a:r>
            <a:r>
              <a:rPr lang="en-US" i="1" dirty="0" err="1"/>
              <a:t>npm</a:t>
            </a:r>
            <a:r>
              <a:rPr lang="en-US" i="1" dirty="0"/>
              <a:t> &gt;= 5.2 on your machine.</a:t>
            </a:r>
          </a:p>
          <a:p>
            <a:endParaRPr lang="en-US" dirty="0"/>
          </a:p>
          <a:p>
            <a:r>
              <a:rPr lang="en-US" dirty="0"/>
              <a:t>To create a project, run:</a:t>
            </a:r>
          </a:p>
          <a:p>
            <a:r>
              <a:rPr lang="en-US" dirty="0" err="1">
                <a:solidFill>
                  <a:srgbClr val="002060"/>
                </a:solidFill>
              </a:rPr>
              <a:t>npx</a:t>
            </a:r>
            <a:r>
              <a:rPr lang="en-US" dirty="0">
                <a:solidFill>
                  <a:srgbClr val="002060"/>
                </a:solidFill>
              </a:rPr>
              <a:t> create-react-app app-name</a:t>
            </a:r>
          </a:p>
          <a:p>
            <a:r>
              <a:rPr lang="en-US" dirty="0">
                <a:solidFill>
                  <a:srgbClr val="002060"/>
                </a:solidFill>
              </a:rPr>
              <a:t>cd app-name</a:t>
            </a:r>
          </a:p>
          <a:p>
            <a:r>
              <a:rPr lang="en-US" dirty="0" err="1">
                <a:solidFill>
                  <a:srgbClr val="002060"/>
                </a:solidFill>
              </a:rPr>
              <a:t>npm</a:t>
            </a:r>
            <a:r>
              <a:rPr lang="en-US" dirty="0">
                <a:solidFill>
                  <a:srgbClr val="002060"/>
                </a:solidFill>
              </a:rPr>
              <a:t> start</a:t>
            </a:r>
          </a:p>
          <a:p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HOW TO USE REACT?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2017346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JSX produces React “elements”.</a:t>
            </a:r>
          </a:p>
          <a:p>
            <a:r>
              <a:rPr lang="en-US" dirty="0"/>
              <a:t>Reactjs.org recommend using it with React to describe what the UI should look like. JSX may remind you of a template language, but it comes with the full power of JavaScript.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JSX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1013251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WHO USES REACT?</a:t>
            </a:r>
            <a:endParaRPr lang="uk-UA" sz="4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D05249-25FB-4161-B77A-29E22658F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377" y="1690942"/>
            <a:ext cx="6135267" cy="383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755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9600" dirty="0"/>
              <a:t>FUNCTION COMPONENTS</a:t>
            </a:r>
            <a:endParaRPr lang="uk-UA" sz="9600" dirty="0"/>
          </a:p>
        </p:txBody>
      </p:sp>
    </p:spTree>
    <p:extLst>
      <p:ext uri="{BB962C8B-B14F-4D97-AF65-F5344CB8AC3E}">
        <p14:creationId xmlns:p14="http://schemas.microsoft.com/office/powerpoint/2010/main" val="1204831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Function components are the simplest way to declare reusable components.</a:t>
            </a:r>
          </a:p>
          <a:p>
            <a:r>
              <a:rPr lang="en-US" dirty="0"/>
              <a:t>They're just functions. </a:t>
            </a:r>
          </a:p>
          <a:p>
            <a:r>
              <a:rPr lang="en-US" dirty="0">
                <a:solidFill>
                  <a:srgbClr val="002060"/>
                </a:solidFill>
              </a:rPr>
              <a:t>function Greeting() {</a:t>
            </a:r>
          </a:p>
          <a:p>
            <a:r>
              <a:rPr lang="en-US" dirty="0">
                <a:solidFill>
                  <a:srgbClr val="002060"/>
                </a:solidFill>
              </a:rPr>
              <a:t>  return &lt;div&gt;Hi there!&lt;/div&gt;;</a:t>
            </a:r>
          </a:p>
          <a:p>
            <a:r>
              <a:rPr lang="en-US" dirty="0">
                <a:solidFill>
                  <a:srgbClr val="002060"/>
                </a:solidFill>
              </a:rPr>
              <a:t>}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/>
              <a:t>Elements can be represent as user-defined components:</a:t>
            </a:r>
          </a:p>
          <a:p>
            <a:r>
              <a:rPr lang="en-US" dirty="0">
                <a:solidFill>
                  <a:srgbClr val="002060"/>
                </a:solidFill>
              </a:rPr>
              <a:t>&lt;Greeting /&gt;;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WHAT IS FUNCTION COMPONENTS?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2683435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When React sees an element representing a user-defined component, it passes JSX attributes to this component as a single object. We call this object “</a:t>
            </a:r>
            <a:r>
              <a:rPr lang="en-US" b="1" dirty="0"/>
              <a:t>props</a:t>
            </a:r>
            <a:r>
              <a:rPr lang="en-US" dirty="0"/>
              <a:t>”.</a:t>
            </a:r>
          </a:p>
          <a:p>
            <a:r>
              <a:rPr lang="en-US" dirty="0"/>
              <a:t>For example, this code renders “Hello, Sara” on the page:</a:t>
            </a:r>
          </a:p>
          <a:p>
            <a:endParaRPr lang="en-US" dirty="0"/>
          </a:p>
          <a:p>
            <a:r>
              <a:rPr lang="en-US" dirty="0">
                <a:solidFill>
                  <a:srgbClr val="002060"/>
                </a:solidFill>
              </a:rPr>
              <a:t>function Welcome(props) {</a:t>
            </a:r>
          </a:p>
          <a:p>
            <a:r>
              <a:rPr lang="en-US" dirty="0">
                <a:solidFill>
                  <a:srgbClr val="002060"/>
                </a:solidFill>
              </a:rPr>
              <a:t>  return &lt;h1&gt;Hello, {props.name}&lt;/h1&gt;;</a:t>
            </a:r>
          </a:p>
          <a:p>
            <a:r>
              <a:rPr lang="en-US" dirty="0">
                <a:solidFill>
                  <a:srgbClr val="002060"/>
                </a:solidFill>
              </a:rPr>
              <a:t>}</a:t>
            </a:r>
          </a:p>
          <a:p>
            <a:r>
              <a:rPr lang="en-US" dirty="0">
                <a:solidFill>
                  <a:srgbClr val="002060"/>
                </a:solidFill>
              </a:rPr>
              <a:t>const element = &lt;Welcome name="Sara" /&gt;;</a:t>
            </a:r>
          </a:p>
          <a:p>
            <a:r>
              <a:rPr lang="en-US" dirty="0" err="1">
                <a:solidFill>
                  <a:srgbClr val="002060"/>
                </a:solidFill>
              </a:rPr>
              <a:t>ReactDOM.render</a:t>
            </a:r>
            <a:r>
              <a:rPr lang="en-US" dirty="0">
                <a:solidFill>
                  <a:srgbClr val="002060"/>
                </a:solidFill>
              </a:rPr>
              <a:t>( element, </a:t>
            </a:r>
            <a:r>
              <a:rPr lang="en-US" dirty="0" err="1">
                <a:solidFill>
                  <a:srgbClr val="002060"/>
                </a:solidFill>
              </a:rPr>
              <a:t>document.getElementById</a:t>
            </a:r>
            <a:r>
              <a:rPr lang="en-US" dirty="0">
                <a:solidFill>
                  <a:srgbClr val="002060"/>
                </a:solidFill>
              </a:rPr>
              <a:t>('root’) );</a:t>
            </a:r>
            <a:r>
              <a:rPr lang="en-US" dirty="0">
                <a:hlinkClick r:id="rId3"/>
              </a:rPr>
              <a:t> </a:t>
            </a:r>
            <a:endParaRPr lang="en-US" dirty="0"/>
          </a:p>
          <a:p>
            <a:r>
              <a:rPr lang="en-US" dirty="0">
                <a:hlinkClick r:id="rId4"/>
              </a:rPr>
              <a:t>https://codepen.io/pen?editors=1010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PROPS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613496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Whether you declare a component as a function or a class, it must never modify its own props.</a:t>
            </a:r>
          </a:p>
          <a:p>
            <a:r>
              <a:rPr lang="en-US" dirty="0">
                <a:solidFill>
                  <a:srgbClr val="002060"/>
                </a:solidFill>
              </a:rPr>
              <a:t>function sum(a, b) {</a:t>
            </a:r>
          </a:p>
          <a:p>
            <a:r>
              <a:rPr lang="en-US" dirty="0">
                <a:solidFill>
                  <a:srgbClr val="002060"/>
                </a:solidFill>
              </a:rPr>
              <a:t>  return a + b;</a:t>
            </a:r>
          </a:p>
          <a:p>
            <a:r>
              <a:rPr lang="en-US" dirty="0">
                <a:solidFill>
                  <a:srgbClr val="002060"/>
                </a:solidFill>
              </a:rPr>
              <a:t>}</a:t>
            </a:r>
          </a:p>
          <a:p>
            <a:r>
              <a:rPr lang="en-US" dirty="0">
                <a:solidFill>
                  <a:schemeClr val="tx2"/>
                </a:solidFill>
              </a:rPr>
              <a:t>Such functions are called “pure” because they do not attempt to change their inputs, and always return the same result for the same inputs.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React is pretty flexible but it has a single strict rule:</a:t>
            </a:r>
          </a:p>
          <a:p>
            <a:r>
              <a:rPr lang="en-US" b="1" dirty="0">
                <a:solidFill>
                  <a:schemeClr val="tx2"/>
                </a:solidFill>
              </a:rPr>
              <a:t>All React components must act like pure functions with respect to their props.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PROPS ARE READ-ONLY!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4248077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Components can refer to other components in their output. This lets us use the same component abstraction for any level of detail. A button, a form, a dialog, a screen: in React apps, all those are commonly expressed as components.</a:t>
            </a:r>
          </a:p>
          <a:p>
            <a:endParaRPr lang="en-US" dirty="0"/>
          </a:p>
          <a:p>
            <a:r>
              <a:rPr lang="en-US" dirty="0"/>
              <a:t>For example, we can create an App component that renders Welcome many times: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COMPOSING COMPONENTS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2887415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function Welcome(props) { return &lt;h1&gt;Hello, {props.name}&lt;/h1&gt;; }</a:t>
            </a:r>
          </a:p>
          <a:p>
            <a:r>
              <a:rPr lang="en-US" dirty="0">
                <a:solidFill>
                  <a:srgbClr val="002060"/>
                </a:solidFill>
              </a:rPr>
              <a:t>function App() {</a:t>
            </a:r>
          </a:p>
          <a:p>
            <a:r>
              <a:rPr lang="en-US" dirty="0">
                <a:solidFill>
                  <a:srgbClr val="002060"/>
                </a:solidFill>
              </a:rPr>
              <a:t>  return (</a:t>
            </a:r>
          </a:p>
          <a:p>
            <a:r>
              <a:rPr lang="en-US" dirty="0">
                <a:solidFill>
                  <a:srgbClr val="002060"/>
                </a:solidFill>
              </a:rPr>
              <a:t>    &lt;div&gt;</a:t>
            </a:r>
          </a:p>
          <a:p>
            <a:r>
              <a:rPr lang="en-US" dirty="0">
                <a:solidFill>
                  <a:srgbClr val="002060"/>
                </a:solidFill>
              </a:rPr>
              <a:t>      &lt;Welcome name="Sara" /&gt;</a:t>
            </a:r>
          </a:p>
          <a:p>
            <a:r>
              <a:rPr lang="en-US" dirty="0">
                <a:solidFill>
                  <a:srgbClr val="002060"/>
                </a:solidFill>
              </a:rPr>
              <a:t>      &lt;Welcome name="</a:t>
            </a:r>
            <a:r>
              <a:rPr lang="en-US" dirty="0" err="1">
                <a:solidFill>
                  <a:srgbClr val="002060"/>
                </a:solidFill>
              </a:rPr>
              <a:t>Cahal</a:t>
            </a:r>
            <a:r>
              <a:rPr lang="en-US" dirty="0">
                <a:solidFill>
                  <a:srgbClr val="002060"/>
                </a:solidFill>
              </a:rPr>
              <a:t>" /&gt;</a:t>
            </a:r>
          </a:p>
          <a:p>
            <a:r>
              <a:rPr lang="en-US" dirty="0">
                <a:solidFill>
                  <a:srgbClr val="002060"/>
                </a:solidFill>
              </a:rPr>
              <a:t>      &lt;Welcome name="</a:t>
            </a:r>
            <a:r>
              <a:rPr lang="en-US" dirty="0" err="1">
                <a:solidFill>
                  <a:srgbClr val="002060"/>
                </a:solidFill>
              </a:rPr>
              <a:t>Edite</a:t>
            </a:r>
            <a:r>
              <a:rPr lang="en-US" dirty="0">
                <a:solidFill>
                  <a:srgbClr val="002060"/>
                </a:solidFill>
              </a:rPr>
              <a:t>" /&gt;</a:t>
            </a:r>
          </a:p>
          <a:p>
            <a:r>
              <a:rPr lang="en-US" dirty="0">
                <a:solidFill>
                  <a:srgbClr val="002060"/>
                </a:solidFill>
              </a:rPr>
              <a:t>    &lt;/div&gt;  </a:t>
            </a:r>
          </a:p>
          <a:p>
            <a:r>
              <a:rPr lang="en-US" dirty="0">
                <a:solidFill>
                  <a:srgbClr val="002060"/>
                </a:solidFill>
              </a:rPr>
              <a:t>  );</a:t>
            </a:r>
          </a:p>
          <a:p>
            <a:r>
              <a:rPr lang="en-US" dirty="0">
                <a:solidFill>
                  <a:srgbClr val="002060"/>
                </a:solidFill>
              </a:rPr>
              <a:t>}</a:t>
            </a:r>
          </a:p>
          <a:p>
            <a:r>
              <a:rPr lang="en-US" dirty="0" err="1">
                <a:solidFill>
                  <a:srgbClr val="002060"/>
                </a:solidFill>
              </a:rPr>
              <a:t>ReactDOM.render</a:t>
            </a:r>
            <a:r>
              <a:rPr lang="en-US" dirty="0">
                <a:solidFill>
                  <a:srgbClr val="002060"/>
                </a:solidFill>
              </a:rPr>
              <a:t>( &lt;App /&gt;, </a:t>
            </a:r>
            <a:r>
              <a:rPr lang="en-US" dirty="0" err="1">
                <a:solidFill>
                  <a:srgbClr val="002060"/>
                </a:solidFill>
              </a:rPr>
              <a:t>document.getElementById</a:t>
            </a:r>
            <a:r>
              <a:rPr lang="en-US" dirty="0">
                <a:solidFill>
                  <a:srgbClr val="002060"/>
                </a:solidFill>
              </a:rPr>
              <a:t>('root') );</a:t>
            </a:r>
          </a:p>
          <a:p>
            <a:r>
              <a:rPr lang="en-US" dirty="0">
                <a:hlinkClick r:id="rId3"/>
              </a:rPr>
              <a:t>https://codepen.io/pen?&amp;editable=true&amp;editors=0010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2164317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Don’t be afraid to split components into smaller components.</a:t>
            </a:r>
          </a:p>
          <a:p>
            <a:r>
              <a:rPr lang="en-US" dirty="0"/>
              <a:t>Extracting components might seem like grunt work at first, but having a palette of reusable components pays off in larger apps. </a:t>
            </a:r>
          </a:p>
          <a:p>
            <a:r>
              <a:rPr lang="en-US" dirty="0"/>
              <a:t>A good rule of thumb is that if a part of your UI is used several times or is complex enough on its own, it is a good candidate to be a reusable component.</a:t>
            </a:r>
          </a:p>
          <a:p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EXTRACTING COMPONENTS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2590617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9600" dirty="0"/>
              <a:t>DESTRUCTURING PROPS</a:t>
            </a:r>
            <a:endParaRPr lang="uk-UA" sz="9600" dirty="0"/>
          </a:p>
        </p:txBody>
      </p:sp>
    </p:spTree>
    <p:extLst>
      <p:ext uri="{BB962C8B-B14F-4D97-AF65-F5344CB8AC3E}">
        <p14:creationId xmlns:p14="http://schemas.microsoft.com/office/powerpoint/2010/main" val="1876134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 err="1"/>
              <a:t>Destructuring</a:t>
            </a:r>
            <a:r>
              <a:rPr lang="en-US" dirty="0"/>
              <a:t> was introduced in ES6. It’s a JavaScript feature that allows us to extract multiple pieces of data from an array or object and assign them to their own variables.</a:t>
            </a:r>
          </a:p>
          <a:p>
            <a:endParaRPr lang="en-US" dirty="0"/>
          </a:p>
          <a:p>
            <a:r>
              <a:rPr lang="en-US" dirty="0"/>
              <a:t>Imagine you have a person object with the following properties:</a:t>
            </a:r>
          </a:p>
          <a:p>
            <a:r>
              <a:rPr lang="en-US" dirty="0">
                <a:solidFill>
                  <a:srgbClr val="002060"/>
                </a:solidFill>
              </a:rPr>
              <a:t>const person = {</a:t>
            </a:r>
          </a:p>
          <a:p>
            <a:r>
              <a:rPr lang="en-US" dirty="0">
                <a:solidFill>
                  <a:srgbClr val="002060"/>
                </a:solidFill>
              </a:rPr>
              <a:t>  </a:t>
            </a:r>
            <a:r>
              <a:rPr lang="en-US" dirty="0" err="1">
                <a:solidFill>
                  <a:srgbClr val="002060"/>
                </a:solidFill>
              </a:rPr>
              <a:t>firstName</a:t>
            </a:r>
            <a:r>
              <a:rPr lang="en-US" dirty="0">
                <a:solidFill>
                  <a:srgbClr val="002060"/>
                </a:solidFill>
              </a:rPr>
              <a:t>: "Lindsay",</a:t>
            </a:r>
          </a:p>
          <a:p>
            <a:r>
              <a:rPr lang="en-US" dirty="0">
                <a:solidFill>
                  <a:srgbClr val="002060"/>
                </a:solidFill>
              </a:rPr>
              <a:t>  </a:t>
            </a:r>
            <a:r>
              <a:rPr lang="en-US" dirty="0" err="1">
                <a:solidFill>
                  <a:srgbClr val="002060"/>
                </a:solidFill>
              </a:rPr>
              <a:t>lastName</a:t>
            </a:r>
            <a:r>
              <a:rPr lang="en-US" dirty="0">
                <a:solidFill>
                  <a:srgbClr val="002060"/>
                </a:solidFill>
              </a:rPr>
              <a:t>: "Criswell",</a:t>
            </a:r>
          </a:p>
          <a:p>
            <a:r>
              <a:rPr lang="en-US" dirty="0">
                <a:solidFill>
                  <a:srgbClr val="002060"/>
                </a:solidFill>
              </a:rPr>
              <a:t>  city: "NYC"</a:t>
            </a:r>
          </a:p>
          <a:p>
            <a:r>
              <a:rPr lang="en-US" dirty="0">
                <a:solidFill>
                  <a:srgbClr val="002060"/>
                </a:solidFill>
              </a:rPr>
              <a:t>}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WHAT IS DESTRUCTURING?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1289812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Before ES6, you had to access each property individually:</a:t>
            </a:r>
          </a:p>
          <a:p>
            <a:r>
              <a:rPr lang="en-US" dirty="0">
                <a:solidFill>
                  <a:srgbClr val="002060"/>
                </a:solidFill>
              </a:rPr>
              <a:t>console.log(</a:t>
            </a:r>
            <a:r>
              <a:rPr lang="en-US" dirty="0" err="1">
                <a:solidFill>
                  <a:srgbClr val="002060"/>
                </a:solidFill>
              </a:rPr>
              <a:t>person.firstName</a:t>
            </a:r>
            <a:r>
              <a:rPr lang="en-US" dirty="0">
                <a:solidFill>
                  <a:srgbClr val="002060"/>
                </a:solidFill>
              </a:rPr>
              <a:t>) // Lindsay</a:t>
            </a:r>
          </a:p>
          <a:p>
            <a:r>
              <a:rPr lang="en-US" dirty="0">
                <a:solidFill>
                  <a:srgbClr val="002060"/>
                </a:solidFill>
              </a:rPr>
              <a:t>console.log(</a:t>
            </a:r>
            <a:r>
              <a:rPr lang="en-US" dirty="0" err="1">
                <a:solidFill>
                  <a:srgbClr val="002060"/>
                </a:solidFill>
              </a:rPr>
              <a:t>person.lastName</a:t>
            </a:r>
            <a:r>
              <a:rPr lang="en-US" dirty="0">
                <a:solidFill>
                  <a:srgbClr val="002060"/>
                </a:solidFill>
              </a:rPr>
              <a:t>) // Criswell</a:t>
            </a:r>
          </a:p>
          <a:p>
            <a:r>
              <a:rPr lang="en-US" dirty="0">
                <a:solidFill>
                  <a:srgbClr val="002060"/>
                </a:solidFill>
              </a:rPr>
              <a:t>console.log(</a:t>
            </a:r>
            <a:r>
              <a:rPr lang="en-US" dirty="0" err="1">
                <a:solidFill>
                  <a:srgbClr val="002060"/>
                </a:solidFill>
              </a:rPr>
              <a:t>person.city</a:t>
            </a:r>
            <a:r>
              <a:rPr lang="en-US" dirty="0">
                <a:solidFill>
                  <a:srgbClr val="002060"/>
                </a:solidFill>
              </a:rPr>
              <a:t>) // NYC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 err="1"/>
              <a:t>Destructuring</a:t>
            </a:r>
            <a:r>
              <a:rPr lang="en-US" dirty="0"/>
              <a:t> lets us streamline this code:</a:t>
            </a:r>
          </a:p>
          <a:p>
            <a:r>
              <a:rPr lang="en-US" dirty="0">
                <a:solidFill>
                  <a:srgbClr val="002060"/>
                </a:solidFill>
              </a:rPr>
              <a:t>const { </a:t>
            </a:r>
            <a:r>
              <a:rPr lang="en-US" dirty="0" err="1">
                <a:solidFill>
                  <a:srgbClr val="002060"/>
                </a:solidFill>
              </a:rPr>
              <a:t>firstName</a:t>
            </a:r>
            <a:r>
              <a:rPr lang="en-US" dirty="0">
                <a:solidFill>
                  <a:srgbClr val="002060"/>
                </a:solidFill>
              </a:rPr>
              <a:t>, </a:t>
            </a:r>
            <a:r>
              <a:rPr lang="en-US" dirty="0" err="1">
                <a:solidFill>
                  <a:srgbClr val="002060"/>
                </a:solidFill>
              </a:rPr>
              <a:t>lastName</a:t>
            </a:r>
            <a:r>
              <a:rPr lang="en-US" dirty="0">
                <a:solidFill>
                  <a:srgbClr val="002060"/>
                </a:solidFill>
              </a:rPr>
              <a:t>, city } = person;  </a:t>
            </a:r>
            <a:r>
              <a:rPr lang="en-US" dirty="0"/>
              <a:t>is equivalent to:</a:t>
            </a:r>
          </a:p>
          <a:p>
            <a:r>
              <a:rPr lang="en-US" dirty="0">
                <a:solidFill>
                  <a:srgbClr val="002060"/>
                </a:solidFill>
              </a:rPr>
              <a:t>const </a:t>
            </a:r>
            <a:r>
              <a:rPr lang="en-US" dirty="0" err="1">
                <a:solidFill>
                  <a:srgbClr val="002060"/>
                </a:solidFill>
              </a:rPr>
              <a:t>firstName</a:t>
            </a:r>
            <a:r>
              <a:rPr lang="en-US" dirty="0">
                <a:solidFill>
                  <a:srgbClr val="002060"/>
                </a:solidFill>
              </a:rPr>
              <a:t> = </a:t>
            </a:r>
            <a:r>
              <a:rPr lang="en-US" dirty="0" err="1">
                <a:solidFill>
                  <a:srgbClr val="002060"/>
                </a:solidFill>
              </a:rPr>
              <a:t>person.firstName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const </a:t>
            </a:r>
            <a:r>
              <a:rPr lang="en-US" dirty="0" err="1">
                <a:solidFill>
                  <a:srgbClr val="002060"/>
                </a:solidFill>
              </a:rPr>
              <a:t>lastName</a:t>
            </a:r>
            <a:r>
              <a:rPr lang="en-US" dirty="0">
                <a:solidFill>
                  <a:srgbClr val="002060"/>
                </a:solidFill>
              </a:rPr>
              <a:t> = </a:t>
            </a:r>
            <a:r>
              <a:rPr lang="en-US" dirty="0" err="1">
                <a:solidFill>
                  <a:srgbClr val="002060"/>
                </a:solidFill>
              </a:rPr>
              <a:t>person.lastName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const city = </a:t>
            </a:r>
            <a:r>
              <a:rPr lang="en-US" dirty="0" err="1">
                <a:solidFill>
                  <a:srgbClr val="002060"/>
                </a:solidFill>
              </a:rPr>
              <a:t>person.city</a:t>
            </a:r>
            <a:endParaRPr lang="en-US" dirty="0">
              <a:solidFill>
                <a:srgbClr val="002060"/>
              </a:solidFill>
            </a:endParaRPr>
          </a:p>
          <a:p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374915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So now we can access these properties without the </a:t>
            </a:r>
            <a:r>
              <a:rPr lang="en-US" b="1" dirty="0"/>
              <a:t>person.</a:t>
            </a:r>
            <a:r>
              <a:rPr lang="en-US" dirty="0"/>
              <a:t> prefix:</a:t>
            </a:r>
          </a:p>
          <a:p>
            <a:r>
              <a:rPr lang="en-US" dirty="0">
                <a:solidFill>
                  <a:srgbClr val="002060"/>
                </a:solidFill>
              </a:rPr>
              <a:t>console.log(</a:t>
            </a:r>
            <a:r>
              <a:rPr lang="en-US" dirty="0" err="1">
                <a:solidFill>
                  <a:srgbClr val="002060"/>
                </a:solidFill>
              </a:rPr>
              <a:t>firstName</a:t>
            </a:r>
            <a:r>
              <a:rPr lang="en-US" dirty="0">
                <a:solidFill>
                  <a:srgbClr val="002060"/>
                </a:solidFill>
              </a:rPr>
              <a:t>) // Lindsay</a:t>
            </a:r>
          </a:p>
          <a:p>
            <a:r>
              <a:rPr lang="en-US" dirty="0">
                <a:solidFill>
                  <a:srgbClr val="002060"/>
                </a:solidFill>
              </a:rPr>
              <a:t>console.log(</a:t>
            </a:r>
            <a:r>
              <a:rPr lang="en-US" dirty="0" err="1">
                <a:solidFill>
                  <a:srgbClr val="002060"/>
                </a:solidFill>
              </a:rPr>
              <a:t>lastName</a:t>
            </a:r>
            <a:r>
              <a:rPr lang="en-US" dirty="0">
                <a:solidFill>
                  <a:srgbClr val="002060"/>
                </a:solidFill>
              </a:rPr>
              <a:t>) // Criswell</a:t>
            </a:r>
          </a:p>
          <a:p>
            <a:r>
              <a:rPr lang="en-US" dirty="0">
                <a:solidFill>
                  <a:srgbClr val="002060"/>
                </a:solidFill>
              </a:rPr>
              <a:t>console.log(city) // NYC</a:t>
            </a:r>
          </a:p>
          <a:p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1084154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 err="1"/>
              <a:t>Destructuring</a:t>
            </a:r>
            <a:r>
              <a:rPr lang="en-US" dirty="0"/>
              <a:t> really shines in React apps, where it can greatly simplify how you write props. </a:t>
            </a:r>
          </a:p>
          <a:p>
            <a:r>
              <a:rPr lang="en-US" dirty="0"/>
              <a:t>Take for example an </a:t>
            </a:r>
            <a:r>
              <a:rPr lang="en-US" b="1" dirty="0"/>
              <a:t>&lt;Attraction /&gt; </a:t>
            </a:r>
            <a:r>
              <a:rPr lang="en-US" dirty="0"/>
              <a:t>component from a travel app. I wanted to pass it </a:t>
            </a:r>
            <a:r>
              <a:rPr lang="en-US" b="1" dirty="0"/>
              <a:t>attraction</a:t>
            </a:r>
            <a:r>
              <a:rPr lang="en-US" dirty="0"/>
              <a:t> props that look like this: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DESTRUCTURING PROPS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415457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props = {  </a:t>
            </a:r>
          </a:p>
          <a:p>
            <a:r>
              <a:rPr lang="en-US" dirty="0">
                <a:solidFill>
                  <a:srgbClr val="002060"/>
                </a:solidFill>
              </a:rPr>
              <a:t>    attraction: {</a:t>
            </a:r>
          </a:p>
          <a:p>
            <a:r>
              <a:rPr lang="en-US" dirty="0">
                <a:solidFill>
                  <a:srgbClr val="002060"/>
                </a:solidFill>
              </a:rPr>
              <a:t>      name: “Statue of Liberty ",</a:t>
            </a:r>
          </a:p>
          <a:p>
            <a:r>
              <a:rPr lang="en-US" dirty="0">
                <a:solidFill>
                  <a:srgbClr val="002060"/>
                </a:solidFill>
              </a:rPr>
              <a:t>      address: "US New York, 350 5th Ave",</a:t>
            </a:r>
          </a:p>
          <a:p>
            <a:r>
              <a:rPr lang="en-US" dirty="0">
                <a:solidFill>
                  <a:srgbClr val="002060"/>
                </a:solidFill>
              </a:rPr>
              <a:t>      </a:t>
            </a:r>
            <a:r>
              <a:rPr lang="en-US" dirty="0" err="1">
                <a:solidFill>
                  <a:srgbClr val="002060"/>
                </a:solidFill>
              </a:rPr>
              <a:t>average_rating</a:t>
            </a:r>
            <a:r>
              <a:rPr lang="en-US" dirty="0">
                <a:solidFill>
                  <a:srgbClr val="002060"/>
                </a:solidFill>
              </a:rPr>
              <a:t>: 4,</a:t>
            </a:r>
          </a:p>
          <a:p>
            <a:r>
              <a:rPr lang="en-US" dirty="0">
                <a:solidFill>
                  <a:srgbClr val="002060"/>
                </a:solidFill>
              </a:rPr>
              <a:t>      id: 9,   </a:t>
            </a:r>
          </a:p>
          <a:p>
            <a:r>
              <a:rPr lang="en-US" dirty="0">
                <a:solidFill>
                  <a:srgbClr val="002060"/>
                </a:solidFill>
              </a:rPr>
              <a:t>   }</a:t>
            </a:r>
          </a:p>
          <a:p>
            <a:r>
              <a:rPr lang="en-US" dirty="0">
                <a:solidFill>
                  <a:srgbClr val="002060"/>
                </a:solidFill>
              </a:rPr>
              <a:t>}</a:t>
            </a:r>
          </a:p>
          <a:p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703717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Not only is this way more information than we need in </a:t>
            </a:r>
            <a:r>
              <a:rPr lang="en-US" b="1" dirty="0"/>
              <a:t>&lt;Attraction /&gt; </a:t>
            </a:r>
            <a:r>
              <a:rPr lang="en-US" dirty="0"/>
              <a:t>component, it makes for some pretty ugly JSX when we needed to pass down different pieces of props to children components.</a:t>
            </a:r>
          </a:p>
          <a:p>
            <a:r>
              <a:rPr lang="en-US" dirty="0">
                <a:solidFill>
                  <a:srgbClr val="002060"/>
                </a:solidFill>
              </a:rPr>
              <a:t>const Attraction = props =&gt; {</a:t>
            </a:r>
          </a:p>
          <a:p>
            <a:r>
              <a:rPr lang="en-US" dirty="0">
                <a:solidFill>
                  <a:srgbClr val="002060"/>
                </a:solidFill>
              </a:rPr>
              <a:t>  return (</a:t>
            </a:r>
          </a:p>
          <a:p>
            <a:r>
              <a:rPr lang="en-US" dirty="0">
                <a:solidFill>
                  <a:srgbClr val="002060"/>
                </a:solidFill>
              </a:rPr>
              <a:t>    &lt;div key={props.attraction.id}&gt;</a:t>
            </a:r>
          </a:p>
          <a:p>
            <a:r>
              <a:rPr lang="en-US" dirty="0">
                <a:solidFill>
                  <a:srgbClr val="002060"/>
                </a:solidFill>
              </a:rPr>
              <a:t>        &lt;h1&gt;{props.attraction.name}&lt;/h1&gt;</a:t>
            </a:r>
          </a:p>
          <a:p>
            <a:r>
              <a:rPr lang="en-US" dirty="0">
                <a:solidFill>
                  <a:srgbClr val="002060"/>
                </a:solidFill>
              </a:rPr>
              <a:t>        &lt;p&gt;{</a:t>
            </a:r>
            <a:r>
              <a:rPr lang="en-US" dirty="0" err="1">
                <a:solidFill>
                  <a:srgbClr val="002060"/>
                </a:solidFill>
              </a:rPr>
              <a:t>props.attraction.adress</a:t>
            </a:r>
            <a:r>
              <a:rPr lang="en-US" dirty="0">
                <a:solidFill>
                  <a:srgbClr val="002060"/>
                </a:solidFill>
              </a:rPr>
              <a:t>}&lt;/p&gt;</a:t>
            </a:r>
          </a:p>
          <a:p>
            <a:r>
              <a:rPr lang="en-US" dirty="0">
                <a:solidFill>
                  <a:srgbClr val="002060"/>
                </a:solidFill>
              </a:rPr>
              <a:t>        &lt;</a:t>
            </a:r>
            <a:r>
              <a:rPr lang="en-US" dirty="0" err="1">
                <a:solidFill>
                  <a:srgbClr val="002060"/>
                </a:solidFill>
              </a:rPr>
              <a:t>StarRatings</a:t>
            </a:r>
            <a:r>
              <a:rPr lang="en-US" dirty="0">
                <a:solidFill>
                  <a:srgbClr val="002060"/>
                </a:solidFill>
              </a:rPr>
              <a:t> rating={</a:t>
            </a:r>
            <a:r>
              <a:rPr lang="en-US" dirty="0" err="1">
                <a:solidFill>
                  <a:srgbClr val="002060"/>
                </a:solidFill>
              </a:rPr>
              <a:t>props.attraction.average_rating</a:t>
            </a:r>
            <a:r>
              <a:rPr lang="en-US" dirty="0">
                <a:solidFill>
                  <a:srgbClr val="002060"/>
                </a:solidFill>
              </a:rPr>
              <a:t>} /&gt;</a:t>
            </a:r>
          </a:p>
          <a:p>
            <a:r>
              <a:rPr lang="en-US" dirty="0">
                <a:solidFill>
                  <a:srgbClr val="002060"/>
                </a:solidFill>
              </a:rPr>
              <a:t>    &lt;/div&gt;</a:t>
            </a:r>
          </a:p>
          <a:p>
            <a:r>
              <a:rPr lang="en-US" dirty="0">
                <a:solidFill>
                  <a:srgbClr val="002060"/>
                </a:solidFill>
              </a:rPr>
              <a:t>  );</a:t>
            </a:r>
          </a:p>
          <a:p>
            <a:r>
              <a:rPr lang="en-US" dirty="0">
                <a:solidFill>
                  <a:srgbClr val="002060"/>
                </a:solidFill>
              </a:rPr>
              <a:t>};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100805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 err="1"/>
              <a:t>Destructuring</a:t>
            </a:r>
            <a:r>
              <a:rPr lang="en-US" dirty="0"/>
              <a:t> our props lets us drop all of the </a:t>
            </a:r>
            <a:r>
              <a:rPr lang="en-US" b="1" dirty="0"/>
              <a:t>props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002060"/>
                </a:solidFill>
              </a:rPr>
              <a:t>const Attraction = ({ attraction }) =&gt; {</a:t>
            </a:r>
          </a:p>
          <a:p>
            <a:r>
              <a:rPr lang="en-US" dirty="0">
                <a:solidFill>
                  <a:srgbClr val="002060"/>
                </a:solidFill>
              </a:rPr>
              <a:t>  return (</a:t>
            </a:r>
          </a:p>
          <a:p>
            <a:r>
              <a:rPr lang="en-US" dirty="0">
                <a:solidFill>
                  <a:srgbClr val="002060"/>
                </a:solidFill>
              </a:rPr>
              <a:t>    &lt;div key={attraction.id}&gt;</a:t>
            </a:r>
          </a:p>
          <a:p>
            <a:r>
              <a:rPr lang="en-US" dirty="0">
                <a:solidFill>
                  <a:srgbClr val="002060"/>
                </a:solidFill>
              </a:rPr>
              <a:t>        &lt;h1&gt;{attraction.name}&lt;/h1&gt;</a:t>
            </a:r>
          </a:p>
          <a:p>
            <a:r>
              <a:rPr lang="en-US" dirty="0">
                <a:solidFill>
                  <a:srgbClr val="002060"/>
                </a:solidFill>
              </a:rPr>
              <a:t>        &lt;p&gt;{</a:t>
            </a:r>
            <a:r>
              <a:rPr lang="en-US" dirty="0" err="1">
                <a:solidFill>
                  <a:srgbClr val="002060"/>
                </a:solidFill>
              </a:rPr>
              <a:t>attraction.adress</a:t>
            </a:r>
            <a:r>
              <a:rPr lang="en-US" dirty="0">
                <a:solidFill>
                  <a:srgbClr val="002060"/>
                </a:solidFill>
              </a:rPr>
              <a:t>}&lt;/p&gt;</a:t>
            </a:r>
          </a:p>
          <a:p>
            <a:r>
              <a:rPr lang="en-US" dirty="0">
                <a:solidFill>
                  <a:srgbClr val="002060"/>
                </a:solidFill>
              </a:rPr>
              <a:t>        &lt;</a:t>
            </a:r>
            <a:r>
              <a:rPr lang="en-US" dirty="0" err="1">
                <a:solidFill>
                  <a:srgbClr val="002060"/>
                </a:solidFill>
              </a:rPr>
              <a:t>StarRatings</a:t>
            </a:r>
            <a:r>
              <a:rPr lang="en-US" dirty="0">
                <a:solidFill>
                  <a:srgbClr val="002060"/>
                </a:solidFill>
              </a:rPr>
              <a:t> rating={</a:t>
            </a:r>
            <a:r>
              <a:rPr lang="en-US" dirty="0" err="1">
                <a:solidFill>
                  <a:srgbClr val="002060"/>
                </a:solidFill>
              </a:rPr>
              <a:t>attraction.average_rating</a:t>
            </a:r>
            <a:r>
              <a:rPr lang="en-US" dirty="0">
                <a:solidFill>
                  <a:srgbClr val="002060"/>
                </a:solidFill>
              </a:rPr>
              <a:t>} /&gt;</a:t>
            </a:r>
          </a:p>
          <a:p>
            <a:r>
              <a:rPr lang="en-US" dirty="0">
                <a:solidFill>
                  <a:srgbClr val="002060"/>
                </a:solidFill>
              </a:rPr>
              <a:t>    &lt;/div&gt;</a:t>
            </a:r>
          </a:p>
          <a:p>
            <a:r>
              <a:rPr lang="en-US" dirty="0">
                <a:solidFill>
                  <a:srgbClr val="002060"/>
                </a:solidFill>
              </a:rPr>
              <a:t>  );</a:t>
            </a:r>
          </a:p>
          <a:p>
            <a:r>
              <a:rPr lang="en-US" dirty="0">
                <a:solidFill>
                  <a:srgbClr val="002060"/>
                </a:solidFill>
              </a:rPr>
              <a:t>};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2256186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We can make this code even simpler by </a:t>
            </a:r>
            <a:r>
              <a:rPr lang="en-US" dirty="0" err="1"/>
              <a:t>destructuring</a:t>
            </a:r>
            <a:r>
              <a:rPr lang="en-US" dirty="0"/>
              <a:t> the auth and attractions props like so:</a:t>
            </a:r>
          </a:p>
          <a:p>
            <a:r>
              <a:rPr lang="en-US" dirty="0">
                <a:solidFill>
                  <a:srgbClr val="002060"/>
                </a:solidFill>
              </a:rPr>
              <a:t>const Attraction = ({attraction: </a:t>
            </a:r>
            <a:r>
              <a:rPr lang="en-US">
                <a:solidFill>
                  <a:srgbClr val="002060"/>
                </a:solidFill>
              </a:rPr>
              <a:t>{ name, adress</a:t>
            </a:r>
            <a:r>
              <a:rPr lang="en-US" dirty="0">
                <a:solidFill>
                  <a:srgbClr val="002060"/>
                </a:solidFill>
              </a:rPr>
              <a:t>, </a:t>
            </a:r>
            <a:r>
              <a:rPr lang="en-US" dirty="0" err="1">
                <a:solidFill>
                  <a:srgbClr val="002060"/>
                </a:solidFill>
              </a:rPr>
              <a:t>average_rating</a:t>
            </a:r>
            <a:r>
              <a:rPr lang="en-US" dirty="0">
                <a:solidFill>
                  <a:srgbClr val="002060"/>
                </a:solidFill>
              </a:rPr>
              <a:t>, id }}) =&gt; {</a:t>
            </a:r>
          </a:p>
          <a:p>
            <a:r>
              <a:rPr lang="en-US" dirty="0">
                <a:solidFill>
                  <a:srgbClr val="002060"/>
                </a:solidFill>
              </a:rPr>
              <a:t>  return (</a:t>
            </a:r>
          </a:p>
          <a:p>
            <a:r>
              <a:rPr lang="en-US" dirty="0">
                <a:solidFill>
                  <a:srgbClr val="002060"/>
                </a:solidFill>
              </a:rPr>
              <a:t>    &lt;div key={id}&gt;</a:t>
            </a:r>
          </a:p>
          <a:p>
            <a:r>
              <a:rPr lang="en-US" dirty="0">
                <a:solidFill>
                  <a:srgbClr val="002060"/>
                </a:solidFill>
              </a:rPr>
              <a:t>      &lt;h1&gt;{name}&lt;/h1&gt;</a:t>
            </a:r>
          </a:p>
          <a:p>
            <a:r>
              <a:rPr lang="en-US" dirty="0">
                <a:solidFill>
                  <a:srgbClr val="002060"/>
                </a:solidFill>
              </a:rPr>
              <a:t>      &lt;p&gt;{</a:t>
            </a:r>
            <a:r>
              <a:rPr lang="en-US" dirty="0" err="1">
                <a:solidFill>
                  <a:srgbClr val="002060"/>
                </a:solidFill>
              </a:rPr>
              <a:t>adress</a:t>
            </a:r>
            <a:r>
              <a:rPr lang="en-US" dirty="0">
                <a:solidFill>
                  <a:srgbClr val="002060"/>
                </a:solidFill>
              </a:rPr>
              <a:t>}&lt;/p&gt;</a:t>
            </a:r>
          </a:p>
          <a:p>
            <a:r>
              <a:rPr lang="en-US" dirty="0">
                <a:solidFill>
                  <a:srgbClr val="002060"/>
                </a:solidFill>
              </a:rPr>
              <a:t>      &lt;</a:t>
            </a:r>
            <a:r>
              <a:rPr lang="en-US" dirty="0" err="1">
                <a:solidFill>
                  <a:srgbClr val="002060"/>
                </a:solidFill>
              </a:rPr>
              <a:t>StarRatings</a:t>
            </a:r>
            <a:r>
              <a:rPr lang="en-US" dirty="0">
                <a:solidFill>
                  <a:srgbClr val="002060"/>
                </a:solidFill>
              </a:rPr>
              <a:t> rating={</a:t>
            </a:r>
            <a:r>
              <a:rPr lang="en-US" dirty="0" err="1">
                <a:solidFill>
                  <a:srgbClr val="002060"/>
                </a:solidFill>
              </a:rPr>
              <a:t>average_rating</a:t>
            </a:r>
            <a:r>
              <a:rPr lang="en-US" dirty="0">
                <a:solidFill>
                  <a:srgbClr val="002060"/>
                </a:solidFill>
              </a:rPr>
              <a:t>} /&gt;</a:t>
            </a:r>
          </a:p>
          <a:p>
            <a:r>
              <a:rPr lang="en-US" dirty="0">
                <a:solidFill>
                  <a:srgbClr val="002060"/>
                </a:solidFill>
              </a:rPr>
              <a:t>    &lt;/div&gt;   </a:t>
            </a:r>
          </a:p>
          <a:p>
            <a:r>
              <a:rPr lang="en-US" dirty="0">
                <a:solidFill>
                  <a:srgbClr val="002060"/>
                </a:solidFill>
              </a:rPr>
              <a:t>  );</a:t>
            </a:r>
          </a:p>
          <a:p>
            <a:r>
              <a:rPr lang="en-US" dirty="0">
                <a:solidFill>
                  <a:srgbClr val="002060"/>
                </a:solidFill>
              </a:rPr>
              <a:t>};</a:t>
            </a:r>
          </a:p>
          <a:p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3600524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 err="1"/>
              <a:t>Destructuring</a:t>
            </a:r>
            <a:r>
              <a:rPr lang="en-US" dirty="0"/>
              <a:t> works similarly in class components, with slightly different syntax. </a:t>
            </a:r>
          </a:p>
          <a:p>
            <a:r>
              <a:rPr lang="en-US" dirty="0"/>
              <a:t>Here you </a:t>
            </a:r>
            <a:r>
              <a:rPr lang="en-US" dirty="0" err="1"/>
              <a:t>destructure</a:t>
            </a:r>
            <a:r>
              <a:rPr lang="en-US" dirty="0"/>
              <a:t> props in the </a:t>
            </a:r>
            <a:r>
              <a:rPr lang="en-US" b="1" dirty="0"/>
              <a:t>render() </a:t>
            </a:r>
            <a:r>
              <a:rPr lang="en-US" dirty="0"/>
              <a:t>function.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1122378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200" dirty="0"/>
              <a:t>DESTRUCTURING IN CLASS COMPONENTS</a:t>
            </a:r>
            <a:endParaRPr lang="uk-UA" sz="4200" dirty="0"/>
          </a:p>
        </p:txBody>
      </p:sp>
    </p:spTree>
    <p:extLst>
      <p:ext uri="{BB962C8B-B14F-4D97-AF65-F5344CB8AC3E}">
        <p14:creationId xmlns:p14="http://schemas.microsoft.com/office/powerpoint/2010/main" val="311378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class Attraction extends </a:t>
            </a:r>
            <a:r>
              <a:rPr lang="en-US" dirty="0" err="1">
                <a:solidFill>
                  <a:srgbClr val="002060"/>
                </a:solidFill>
              </a:rPr>
              <a:t>React.Component</a:t>
            </a:r>
            <a:r>
              <a:rPr lang="en-US" dirty="0">
                <a:solidFill>
                  <a:srgbClr val="002060"/>
                </a:solidFill>
              </a:rPr>
              <a:t> {</a:t>
            </a:r>
          </a:p>
          <a:p>
            <a:r>
              <a:rPr lang="en-US" dirty="0">
                <a:solidFill>
                  <a:srgbClr val="002060"/>
                </a:solidFill>
              </a:rPr>
              <a:t>  render() {</a:t>
            </a:r>
          </a:p>
          <a:p>
            <a:r>
              <a:rPr lang="en-US" dirty="0">
                <a:solidFill>
                  <a:srgbClr val="002060"/>
                </a:solidFill>
              </a:rPr>
              <a:t>    const { attraction: { name, </a:t>
            </a:r>
            <a:r>
              <a:rPr lang="en-US" dirty="0" err="1">
                <a:solidFill>
                  <a:srgbClr val="002060"/>
                </a:solidFill>
              </a:rPr>
              <a:t>adress</a:t>
            </a:r>
            <a:r>
              <a:rPr lang="en-US" dirty="0">
                <a:solidFill>
                  <a:srgbClr val="002060"/>
                </a:solidFill>
              </a:rPr>
              <a:t>, </a:t>
            </a:r>
            <a:r>
              <a:rPr lang="en-US" dirty="0" err="1">
                <a:solidFill>
                  <a:srgbClr val="002060"/>
                </a:solidFill>
              </a:rPr>
              <a:t>average_rating</a:t>
            </a:r>
            <a:r>
              <a:rPr lang="en-US" dirty="0">
                <a:solidFill>
                  <a:srgbClr val="002060"/>
                </a:solidFill>
              </a:rPr>
              <a:t>, id} } = </a:t>
            </a:r>
            <a:r>
              <a:rPr lang="en-US" dirty="0" err="1">
                <a:solidFill>
                  <a:srgbClr val="002060"/>
                </a:solidFill>
              </a:rPr>
              <a:t>this.props</a:t>
            </a:r>
            <a:r>
              <a:rPr lang="en-US" dirty="0">
                <a:solidFill>
                  <a:srgbClr val="002060"/>
                </a:solidFill>
              </a:rPr>
              <a:t>;</a:t>
            </a:r>
          </a:p>
          <a:p>
            <a:r>
              <a:rPr lang="en-US" dirty="0">
                <a:solidFill>
                  <a:srgbClr val="002060"/>
                </a:solidFill>
              </a:rPr>
              <a:t>    return (</a:t>
            </a:r>
          </a:p>
          <a:p>
            <a:r>
              <a:rPr lang="en-US" dirty="0">
                <a:solidFill>
                  <a:srgbClr val="002060"/>
                </a:solidFill>
              </a:rPr>
              <a:t>      &lt;div key={id}&gt;</a:t>
            </a:r>
          </a:p>
          <a:p>
            <a:r>
              <a:rPr lang="en-US" dirty="0">
                <a:solidFill>
                  <a:srgbClr val="002060"/>
                </a:solidFill>
              </a:rPr>
              <a:t>        &lt;h1&gt;{name}&lt;/h1&gt;</a:t>
            </a:r>
          </a:p>
          <a:p>
            <a:r>
              <a:rPr lang="en-US" dirty="0">
                <a:solidFill>
                  <a:srgbClr val="002060"/>
                </a:solidFill>
              </a:rPr>
              <a:t>        &lt;p&gt;{</a:t>
            </a:r>
            <a:r>
              <a:rPr lang="en-US" dirty="0" err="1">
                <a:solidFill>
                  <a:srgbClr val="002060"/>
                </a:solidFill>
              </a:rPr>
              <a:t>adress</a:t>
            </a:r>
            <a:r>
              <a:rPr lang="en-US" dirty="0">
                <a:solidFill>
                  <a:srgbClr val="002060"/>
                </a:solidFill>
              </a:rPr>
              <a:t>}&lt;/p&gt;</a:t>
            </a:r>
          </a:p>
          <a:p>
            <a:r>
              <a:rPr lang="en-US" dirty="0">
                <a:solidFill>
                  <a:srgbClr val="002060"/>
                </a:solidFill>
              </a:rPr>
              <a:t>        &lt;</a:t>
            </a:r>
            <a:r>
              <a:rPr lang="en-US" dirty="0" err="1">
                <a:solidFill>
                  <a:srgbClr val="002060"/>
                </a:solidFill>
              </a:rPr>
              <a:t>StarRatings</a:t>
            </a:r>
            <a:r>
              <a:rPr lang="en-US" dirty="0">
                <a:solidFill>
                  <a:srgbClr val="002060"/>
                </a:solidFill>
              </a:rPr>
              <a:t> rating={</a:t>
            </a:r>
            <a:r>
              <a:rPr lang="en-US" dirty="0" err="1">
                <a:solidFill>
                  <a:srgbClr val="002060"/>
                </a:solidFill>
              </a:rPr>
              <a:t>average_rating</a:t>
            </a:r>
            <a:r>
              <a:rPr lang="en-US" dirty="0">
                <a:solidFill>
                  <a:srgbClr val="002060"/>
                </a:solidFill>
              </a:rPr>
              <a:t>} /&gt;</a:t>
            </a:r>
          </a:p>
          <a:p>
            <a:r>
              <a:rPr lang="en-US" dirty="0">
                <a:solidFill>
                  <a:srgbClr val="002060"/>
                </a:solidFill>
              </a:rPr>
              <a:t>      &lt;/div&gt;   );</a:t>
            </a:r>
          </a:p>
          <a:p>
            <a:r>
              <a:rPr lang="en-US" dirty="0">
                <a:solidFill>
                  <a:srgbClr val="002060"/>
                </a:solidFill>
              </a:rPr>
              <a:t>  }</a:t>
            </a:r>
          </a:p>
          <a:p>
            <a:r>
              <a:rPr lang="en-US" dirty="0">
                <a:solidFill>
                  <a:srgbClr val="002060"/>
                </a:solidFill>
              </a:rPr>
              <a:t>}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3042271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 err="1"/>
              <a:t>Destructuring</a:t>
            </a:r>
            <a:r>
              <a:rPr lang="en-US" dirty="0"/>
              <a:t> props made this code much easier to read. </a:t>
            </a:r>
          </a:p>
          <a:p>
            <a:r>
              <a:rPr lang="en-US" dirty="0"/>
              <a:t>It has the added benefit of giving us access only to the props we need, and letting us view them on the file where we use them.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1079945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USED MATERIALS</a:t>
            </a:r>
            <a:endParaRPr lang="uk-U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40ABE4-A9F8-4A95-B31B-CF861D743B3B}"/>
              </a:ext>
            </a:extLst>
          </p:cNvPr>
          <p:cNvSpPr/>
          <p:nvPr/>
        </p:nvSpPr>
        <p:spPr>
          <a:xfrm>
            <a:off x="685799" y="4162548"/>
            <a:ext cx="9207844" cy="2009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38911">
              <a:lnSpc>
                <a:spcPct val="90000"/>
              </a:lnSpc>
              <a:spcBef>
                <a:spcPts val="1000"/>
              </a:spcBef>
              <a:defRPr sz="1536"/>
            </a:pPr>
            <a:r>
              <a:rPr lang="en-US" dirty="0">
                <a:hlinkClick r:id="rId2"/>
              </a:rPr>
              <a:t>https://reactjs.org/docs/components-and-props.html#function-and-class-components</a:t>
            </a:r>
          </a:p>
          <a:p>
            <a:pPr defTabSz="438911">
              <a:lnSpc>
                <a:spcPct val="90000"/>
              </a:lnSpc>
              <a:spcBef>
                <a:spcPts val="1000"/>
              </a:spcBef>
              <a:defRPr sz="1536"/>
            </a:pPr>
            <a:r>
              <a:rPr lang="en-US" dirty="0">
                <a:hlinkClick r:id="rId2"/>
              </a:rPr>
              <a:t>https://en.wikipedia.org/wiki/Pure_function</a:t>
            </a:r>
            <a:endParaRPr lang="en-US" dirty="0"/>
          </a:p>
          <a:p>
            <a:pPr defTabSz="438911">
              <a:lnSpc>
                <a:spcPct val="90000"/>
              </a:lnSpc>
              <a:spcBef>
                <a:spcPts val="1000"/>
              </a:spcBef>
              <a:defRPr sz="1536"/>
            </a:pPr>
            <a:r>
              <a:rPr lang="en-US" dirty="0">
                <a:hlinkClick r:id="rId3"/>
              </a:rPr>
              <a:t>https://reactjs.org/docs/components-and-props.html</a:t>
            </a:r>
            <a:endParaRPr lang="en-US" dirty="0"/>
          </a:p>
          <a:p>
            <a:pPr defTabSz="438911">
              <a:lnSpc>
                <a:spcPct val="90000"/>
              </a:lnSpc>
              <a:spcBef>
                <a:spcPts val="1000"/>
              </a:spcBef>
              <a:defRPr sz="1536"/>
            </a:pPr>
            <a:r>
              <a:rPr lang="en-US" dirty="0">
                <a:hlinkClick r:id="rId4"/>
              </a:rPr>
              <a:t>https://medium.com/tag/react</a:t>
            </a:r>
            <a:endParaRPr lang="en-US" dirty="0"/>
          </a:p>
          <a:p>
            <a:pPr defTabSz="438911">
              <a:lnSpc>
                <a:spcPct val="90000"/>
              </a:lnSpc>
              <a:spcBef>
                <a:spcPts val="1000"/>
              </a:spcBef>
              <a:defRPr sz="1536"/>
            </a:pPr>
            <a:r>
              <a:rPr lang="en-US" dirty="0">
                <a:hlinkClick r:id="rId5"/>
              </a:rPr>
              <a:t>https://reactpatterns.com</a:t>
            </a:r>
            <a:endParaRPr lang="en-US" dirty="0"/>
          </a:p>
          <a:p>
            <a:pPr defTabSz="438911">
              <a:lnSpc>
                <a:spcPct val="90000"/>
              </a:lnSpc>
              <a:spcBef>
                <a:spcPts val="1000"/>
              </a:spcBef>
              <a:defRPr sz="1536"/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666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85299940"/>
      </p:ext>
    </p:extLst>
  </p:cSld>
  <p:clrMapOvr>
    <a:masterClrMapping/>
  </p:clrMapOvr>
</p:sld>
</file>

<file path=ppt/theme/theme1.xml><?xml version="1.0" encoding="utf-8"?>
<a:theme xmlns:a="http://schemas.openxmlformats.org/drawingml/2006/main" name="DARK 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Custom 1">
      <a:majorFont>
        <a:latin typeface="Proxima Nova Black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ftServeTemplate" id="{1EECC8DE-A8A5-45A7-969A-C21752D4B3E4}" vid="{444DEE5D-51F1-4029-8FDB-DB417F7B394A}"/>
    </a:ext>
  </a:extLst>
</a:theme>
</file>

<file path=ppt/theme/theme2.xml><?xml version="1.0" encoding="utf-8"?>
<a:theme xmlns:a="http://schemas.openxmlformats.org/drawingml/2006/main" name="LIGHT-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ftServeTemplate" id="{1EECC8DE-A8A5-45A7-969A-C21752D4B3E4}" vid="{0103479C-70CD-40C7-BA0E-A151EE336BCC}"/>
    </a:ext>
  </a:extLst>
</a:theme>
</file>

<file path=ppt/theme/theme3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4195FC54A15F344D83577B1CDDD67A5D" ma:contentTypeVersion="9" ma:contentTypeDescription="Создание документа." ma:contentTypeScope="" ma:versionID="961ec8db58076c7d3e9f84b9cd82fd45">
  <xsd:schema xmlns:xsd="http://www.w3.org/2001/XMLSchema" xmlns:xs="http://www.w3.org/2001/XMLSchema" xmlns:p="http://schemas.microsoft.com/office/2006/metadata/properties" xmlns:ns2="341e6018-ac0a-4dfb-8409-db9e0d25502e" xmlns:ns3="835f28f2-30f1-4728-84d2-86d96e143488" targetNamespace="http://schemas.microsoft.com/office/2006/metadata/properties" ma:root="true" ma:fieldsID="bd9f0c80ada20ee560e77d723f3ef44e" ns2:_="" ns3:_="">
    <xsd:import namespace="341e6018-ac0a-4dfb-8409-db9e0d25502e"/>
    <xsd:import namespace="835f28f2-30f1-4728-84d2-86d96e14348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_x041a__x043e__x043c__x0435__x0442__x0430__x044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1e6018-ac0a-4dfb-8409-db9e0d25502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Совместно с подробностями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5f28f2-30f1-4728-84d2-86d96e1434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_x041a__x043e__x043c__x0435__x0442__x0430__x0440_" ma:index="16" nillable="true" ma:displayName="Кометар" ma:internalName="_x041a__x043e__x043c__x0435__x0442__x0430__x0440_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041a__x043e__x043c__x0435__x0442__x0430__x0440_ xmlns="835f28f2-30f1-4728-84d2-86d96e143488" xsi:nil="true"/>
  </documentManagement>
</p:properties>
</file>

<file path=customXml/itemProps1.xml><?xml version="1.0" encoding="utf-8"?>
<ds:datastoreItem xmlns:ds="http://schemas.openxmlformats.org/officeDocument/2006/customXml" ds:itemID="{CAFDAB34-20E1-438F-BCB2-ECDA5496F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1e6018-ac0a-4dfb-8409-db9e0d25502e"/>
    <ds:schemaRef ds:uri="835f28f2-30f1-4728-84d2-86d96e1434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6B3B9E-03D8-4766-BF45-6129617CF0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A1340B-3A1B-4156-ADE3-51DF6C2C795D}">
  <ds:schemaRefs>
    <ds:schemaRef ds:uri="http://purl.org/dc/elements/1.1/"/>
    <ds:schemaRef ds:uri="http://schemas.microsoft.com/office/2006/metadata/properties"/>
    <ds:schemaRef ds:uri="835f28f2-30f1-4728-84d2-86d96e143488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341e6018-ac0a-4dfb-8409-db9e0d25502e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SoftServeTemplate_Black</Template>
  <TotalTime>759</TotalTime>
  <Words>1443</Words>
  <Application>Microsoft Office PowerPoint</Application>
  <PresentationFormat>Широкий екран</PresentationFormat>
  <Paragraphs>190</Paragraphs>
  <Slides>30</Slides>
  <Notes>19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слайдів</vt:lpstr>
      </vt:variant>
      <vt:variant>
        <vt:i4>30</vt:i4>
      </vt:variant>
    </vt:vector>
  </HeadingPairs>
  <TitlesOfParts>
    <vt:vector size="36" baseType="lpstr">
      <vt:lpstr>Proxima Nova Black</vt:lpstr>
      <vt:lpstr>Open Sans</vt:lpstr>
      <vt:lpstr>Arial</vt:lpstr>
      <vt:lpstr>Calibri</vt:lpstr>
      <vt:lpstr>DARK THEME</vt:lpstr>
      <vt:lpstr>LIGHT-THEME</vt:lpstr>
      <vt:lpstr>REACT INTRO</vt:lpstr>
      <vt:lpstr>AGENDA</vt:lpstr>
      <vt:lpstr>WHAT IS REACT?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FUNCTION COMPONENTS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DESTRUCTURING PROPS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USED MATERIALS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Liubov Koliasa</dc:creator>
  <cp:lastModifiedBy>Volodymyr Karanevych</cp:lastModifiedBy>
  <cp:revision>51</cp:revision>
  <dcterms:created xsi:type="dcterms:W3CDTF">2018-12-11T16:43:22Z</dcterms:created>
  <dcterms:modified xsi:type="dcterms:W3CDTF">2019-04-14T19:51:15Z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0x0101004195FC54A15F344D83577B1CDDD67A5D</vt:lpwstr>
  </property>
</Properties>
</file>